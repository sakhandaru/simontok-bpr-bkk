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ONTOK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0160">
            <a:solidFill>
              <a:srgbClr val="2B2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 • Panduan penggunaan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49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1572768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penggunaan aplikasi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50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Admin Legal dan Notaris untuk memantau order, dokumen, covernote, dan pembayaran.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5989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internal • Versi demo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0" y="960120"/>
            <a:ext cx="3749040" cy="4370832"/>
          </a:xfrm>
          <a:prstGeom prst="roundRect">
            <a:avLst>
              <a:gd name="adj" fmla="val 1951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6096" y="1243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1673352"/>
            <a:ext cx="3749040" cy="0"/>
          </a:xfrm>
          <a:prstGeom prst="line">
            <a:avLst/>
          </a:prstGeom>
          <a:noFill/>
          <a:ln w="10160">
            <a:solidFill>
              <a:srgbClr val="30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97510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aktif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54112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235440" y="197510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perhatian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81744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607808" y="3145536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3273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selesai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54112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B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9235440" y="3145536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1744" y="3273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final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81744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MULAI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Kenali tujuan aplikasi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 membantu pekerjaan berjalan dari order masuk sampai pembayaran tercatat.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246120" cy="2157984"/>
          </a:xfrm>
          <a:prstGeom prst="roundRect">
            <a:avLst>
              <a:gd name="adj" fmla="val 339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76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Legal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77824" y="263347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order, memeriksa dokumen, menyetujui covernote, memvalidasi final, dan mencatat pembayaran.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938528"/>
            <a:ext cx="3246120" cy="2157984"/>
          </a:xfrm>
          <a:prstGeom prst="roundRect">
            <a:avLst>
              <a:gd name="adj" fmla="val 339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2176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81144" y="263347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order, mengunggah covernote, memperbarui progres, melengkapi dokumen final, dan mengajukan invoice.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5008" y="1938528"/>
            <a:ext cx="3246120" cy="2157984"/>
          </a:xfrm>
          <a:prstGeom prst="roundRect">
            <a:avLst>
              <a:gd name="adj" fmla="val 339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176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B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Cabang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84464" y="263347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review atau keputusan yang memang menjadi kewenangannya.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6177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9191D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27448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dengan akun sesuai role. Menu dan tombol mengikuti kewenangan pengguna.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dari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ringkasan untuk menentukan pekerjaan yang perlu dikerjakan lebih dulu.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151517"/>
          </a:solidFill>
          <a:ln w="12700">
            <a:solidFill>
              <a:srgbClr val="15151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" y="1024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" y="126187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B21B"/>
          </a:solidFill>
          <a:ln w="10160">
            <a:solidFill>
              <a:srgbClr val="F5B2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5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848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2644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Pekerjaan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Notaris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4439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37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6281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Pengaturan Akun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59152" y="502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359152" y="8961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terkini order, dokumen, covernote, dan pembayaran yang perlu ditindaklanjuti.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59152" y="138988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aktif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05456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2505456" y="21214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vs 7 hari lalu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99432" y="138988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perhatian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45736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4745736" y="21214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SLA terlambat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39712" y="138988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selesai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86016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B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6986016" y="21214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vs 7 hari lalu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79992" y="138988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26296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final tervalidasi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26296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9226296" y="21214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vs 7 hari lalu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59152" y="2633472"/>
            <a:ext cx="5989320" cy="2852928"/>
          </a:xfrm>
          <a:prstGeom prst="roundRect">
            <a:avLst>
              <a:gd name="adj" fmla="val 2564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286207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tindakan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2578608" y="31638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Pekerjaan prioritas hari ini, paling mendesak di urutan atas.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59152" y="3511296"/>
            <a:ext cx="5989320" cy="0"/>
          </a:xfrm>
          <a:prstGeom prst="line">
            <a:avLst/>
          </a:prstGeom>
          <a:noFill/>
          <a:ln w="10160">
            <a:solidFill>
              <a:srgbClr val="3030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3794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terlambat (31)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37947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semua 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78608" y="4096512"/>
            <a:ext cx="5440680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 kedaluwarsa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03720" y="4297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semua 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78608" y="4599432"/>
            <a:ext cx="5440680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4800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belum tercatat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03720" y="4800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semua 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78608" y="5102352"/>
            <a:ext cx="5440680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77072" y="2633472"/>
            <a:ext cx="2999232" cy="2852928"/>
          </a:xfrm>
          <a:prstGeom prst="roundRect">
            <a:avLst>
              <a:gd name="adj" fmla="val 2564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96528" y="28620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harian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8796528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angka yang dicek setiap hari.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796528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terlambat 31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96528" y="4178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mendekati batas 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796528" y="4562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 kedaluwarsa 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796528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tertunda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ORDER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dan saring pekerjaan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order adalah tempat utama untuk menemukan konteks, tahap, risiko, dan status pembayaran.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151517"/>
          </a:solidFill>
          <a:ln w="12700">
            <a:solidFill>
              <a:srgbClr val="15151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" y="1024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" y="1655064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B21B"/>
          </a:solidFill>
          <a:ln w="10160">
            <a:solidFill>
              <a:srgbClr val="F5B2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916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5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848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2644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Pekerjaan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Notaris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4439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37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6281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Pengaturan Akun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59152" y="502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359152" y="8961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pekerjaan notaris dengan posisi, risiko, SLA, dan pembayaran.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0" y="6583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F5F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9568" y="676656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order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59152" y="133502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1463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05456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4599432" y="133502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1463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45736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6839712" y="133502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1463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86016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9079992" y="133502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26296" y="1463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invoice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26296" y="1719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36" name="Shape 34"/>
          <p:cNvSpPr/>
          <p:nvPr/>
        </p:nvSpPr>
        <p:spPr>
          <a:xfrm>
            <a:off x="2359152" y="2578608"/>
            <a:ext cx="9217152" cy="658368"/>
          </a:xfrm>
          <a:prstGeom prst="roundRect">
            <a:avLst>
              <a:gd name="adj" fmla="val 11111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2788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no order, nasabah, atau rekening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275234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2C6B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2770632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aktif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59168" y="275234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FF6F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8896" y="277063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aktif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11312" y="27523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F0B4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2770632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tertunda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85832" y="2788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Terapkan filter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59152" y="3493008"/>
            <a:ext cx="9217152" cy="3520440"/>
          </a:xfrm>
          <a:prstGeom prst="roundRect">
            <a:avLst>
              <a:gd name="adj" fmla="val 2078"/>
            </a:avLst>
          </a:prstGeom>
          <a:solidFill>
            <a:srgbClr val="0B0B0C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3744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order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959352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Nasabah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79592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34072" y="3657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96312" y="3931920"/>
            <a:ext cx="8942832" cy="0"/>
          </a:xfrm>
          <a:prstGeom prst="line">
            <a:avLst/>
          </a:prstGeom>
          <a:noFill/>
          <a:ln w="10160">
            <a:solidFill>
              <a:srgbClr val="3030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23744" y="4059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DEMO-0001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59352" y="40599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 Santoso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79592" y="4059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valid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70064" y="405079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2C6B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79792" y="40690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96312" y="4407408"/>
            <a:ext cx="8942832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46177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DEMO-0002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959352" y="46177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 Aminah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79592" y="4617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akta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70064" y="460857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2C6B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79792" y="46268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96312" y="4965192"/>
            <a:ext cx="8942832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23744" y="5175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DEMO-0003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59352" y="51755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Agus Waryanto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79592" y="5175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Menunggu validasi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370064" y="51663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FF6F6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79792" y="518464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96312" y="5522976"/>
            <a:ext cx="8942832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5733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DEMO-0004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959352" y="5733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 Lestari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879592" y="5733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final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70064" y="572414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2C6B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79792" y="574243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496312" y="6080760"/>
            <a:ext cx="8942832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23744" y="6291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DEMO-0005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959352" y="6291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Wahyuni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879592" y="6291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370064" y="6281928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18B77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79792" y="630021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B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496312" y="6638544"/>
            <a:ext cx="8942832" cy="0"/>
          </a:xfrm>
          <a:prstGeom prst="line">
            <a:avLst/>
          </a:prstGeom>
          <a:noFill/>
          <a:ln w="7620">
            <a:solidFill>
              <a:srgbClr val="30303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59152" y="5724144"/>
            <a:ext cx="9217152" cy="502920"/>
          </a:xfrm>
          <a:prstGeom prst="roundRect">
            <a:avLst>
              <a:gd name="adj" fmla="val 14545"/>
            </a:avLst>
          </a:prstGeom>
          <a:solidFill>
            <a:srgbClr val="19191D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23744" y="5833872"/>
            <a:ext cx="8887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mulai dari filter Risiko aktif atau SLA terlampaui saat menentukan prioritas kerja.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DETAIL ORDER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status dan tindakan berikutnya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detail menyatukan identitas order, journey, dokumen, covernote, handover, dan pembayaran.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151517"/>
          </a:solidFill>
          <a:ln w="12700">
            <a:solidFill>
              <a:srgbClr val="15151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" y="1024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" y="1655064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B21B"/>
          </a:solidFill>
          <a:ln w="10160">
            <a:solidFill>
              <a:srgbClr val="F5B2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916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5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848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2644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Pekerjaan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Notaris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4439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37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6281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Pengaturan Akun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59152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DEMO-0017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425696" y="53035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2C6B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5486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akta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59152" y="896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Slamet Riyadi • 001135000016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04120" y="658368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111114"/>
          </a:solidFill>
          <a:ln w="10160">
            <a:solidFill>
              <a:srgbClr val="F5F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848" y="67665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Tutup order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59152" y="1353312"/>
            <a:ext cx="9217152" cy="1115568"/>
          </a:xfrm>
          <a:prstGeom prst="roundRect">
            <a:avLst>
              <a:gd name="adj" fmla="val 6557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157276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pengajuan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88920" y="1938528"/>
            <a:ext cx="201168" cy="201168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0088" y="2029968"/>
            <a:ext cx="1115568" cy="0"/>
          </a:xfrm>
          <a:prstGeom prst="line">
            <a:avLst/>
          </a:prstGeom>
          <a:noFill/>
          <a:ln w="15240">
            <a:solidFill>
              <a:srgbClr val="18B7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0" y="1938528"/>
            <a:ext cx="201168" cy="201168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2029968"/>
            <a:ext cx="1115568" cy="0"/>
          </a:xfrm>
          <a:prstGeom prst="line">
            <a:avLst/>
          </a:prstGeom>
          <a:noFill/>
          <a:ln w="15240">
            <a:solidFill>
              <a:srgbClr val="18B7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938528"/>
            <a:ext cx="201168" cy="201168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41848" y="2029968"/>
            <a:ext cx="1115568" cy="0"/>
          </a:xfrm>
          <a:prstGeom prst="line">
            <a:avLst/>
          </a:prstGeom>
          <a:noFill/>
          <a:ln w="15240">
            <a:solidFill>
              <a:srgbClr val="3030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66560" y="1938528"/>
            <a:ext cx="201168" cy="201168"/>
          </a:xfrm>
          <a:prstGeom prst="ellipse">
            <a:avLst/>
          </a:prstGeom>
          <a:solidFill>
            <a:srgbClr val="2C6BE0"/>
          </a:solidFill>
          <a:ln w="6350">
            <a:solidFill>
              <a:srgbClr val="2C6B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2029968"/>
            <a:ext cx="1115568" cy="0"/>
          </a:xfrm>
          <a:prstGeom prst="line">
            <a:avLst/>
          </a:prstGeom>
          <a:noFill/>
          <a:ln w="15240">
            <a:solidFill>
              <a:srgbClr val="3030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92440" y="1938528"/>
            <a:ext cx="201168" cy="201168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3608" y="2029968"/>
            <a:ext cx="1115568" cy="0"/>
          </a:xfrm>
          <a:prstGeom prst="line">
            <a:avLst/>
          </a:prstGeom>
          <a:noFill/>
          <a:ln w="15240">
            <a:solidFill>
              <a:srgbClr val="3030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418320" y="1938528"/>
            <a:ext cx="201168" cy="201168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21945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59152" y="2724912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96896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&amp; agunan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24912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APHT • AG-DEMO-0017-1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24912" y="38953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rumah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24912" y="4334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diunggah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24912" y="4773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 CN/DEMO-0017/1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1040" y="2724912"/>
            <a:ext cx="3255264" cy="2834640"/>
          </a:xfrm>
          <a:prstGeom prst="roundRect">
            <a:avLst>
              <a:gd name="adj" fmla="val 2581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7072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 yang tersedia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77072" y="3456432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10160">
            <a:solidFill>
              <a:srgbClr val="F5F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352958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dokumen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77072" y="3968496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1E1E23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40416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 handover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77072" y="4480560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1E1E23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2520" y="45537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invoice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• ALUR KERJA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Ikuti urutan tahap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yang muncul mengikuti role dan kesiapan tahap pada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329184" cy="329184"/>
          </a:xfrm>
          <a:prstGeom prst="ellipse">
            <a:avLst/>
          </a:prstGeom>
          <a:solidFill>
            <a:srgbClr val="F5B21B"/>
          </a:solidFill>
          <a:ln w="6350">
            <a:solidFill>
              <a:srgbClr val="F5B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dibuat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Legal mengisi data order dan agunan.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25146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98648" y="4050792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4215384"/>
            <a:ext cx="329184" cy="329184"/>
          </a:xfrm>
          <a:prstGeom prst="ellipse">
            <a:avLst/>
          </a:prstGeom>
          <a:solidFill>
            <a:srgbClr val="F5B21B"/>
          </a:solidFill>
          <a:ln w="6350">
            <a:solidFill>
              <a:srgbClr val="F5B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42793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dikirim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46908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diajukan untuk approval dan dikirim ke Notaris.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6908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38928" y="18745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039112"/>
            <a:ext cx="329184" cy="329184"/>
          </a:xfrm>
          <a:prstGeom prst="ellipse">
            <a:avLst/>
          </a:prstGeom>
          <a:solidFill>
            <a:srgbClr val="F5B21B"/>
          </a:solidFill>
          <a:ln w="6350">
            <a:solidFill>
              <a:srgbClr val="F5B2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031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5146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 mengunggah; Admin Legal menyetujui atau meminta perbaikan.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79208" y="4050792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4215384"/>
            <a:ext cx="329184" cy="329184"/>
          </a:xfrm>
          <a:prstGeom prst="ellipse">
            <a:avLst/>
          </a:prstGeom>
          <a:solidFill>
            <a:srgbClr val="F5B21B"/>
          </a:solidFill>
          <a:ln w="6350">
            <a:solidFill>
              <a:srgbClr val="F5B2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2793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01000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 &amp; final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46908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 diselesaikan berurutan; dokumen final wajib lengkap.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46908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19488" y="18745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2039112"/>
            <a:ext cx="329184" cy="329184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21031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&amp; bayar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84080" y="25146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diverifikasi, disetujui, lalu bukti pembayaran dicatat.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" y="5797296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9191D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907024"/>
            <a:ext cx="10186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kunci: upload dokumen final membuka validasi Admin Legal; bukti bayar baru dicatat setelah handover fisik.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CHECKLIST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menyelesaikan pekerjaan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checklist ini untuk menjaga data, bukti, dan status tetap sinkron.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Legal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50976" y="2670048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order dan agunan sudah lengkap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50976" y="3136392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3099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awal sudah diperiksa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" y="3602736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566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Covernote sudah disetujui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0976" y="4069080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final sudah divalidasi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" y="4535424"/>
            <a:ext cx="164592" cy="164592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fisik sudah tercatat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" y="5001768"/>
            <a:ext cx="164592" cy="164592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965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 sudah diverifikasi dan dibayar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6752" y="178308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151518"/>
          </a:solidFill>
          <a:ln w="10160">
            <a:solidFill>
              <a:srgbClr val="303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2670048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atau menolak order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136392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3099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Mengunggah covernote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602736"/>
            <a:ext cx="164592" cy="164592"/>
          </a:xfrm>
          <a:prstGeom prst="ellipse">
            <a:avLst/>
          </a:prstGeom>
          <a:solidFill>
            <a:srgbClr val="18B778"/>
          </a:solidFill>
          <a:ln w="6350">
            <a:solidFill>
              <a:srgbClr val="18B7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3566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Mengisi progres sesuai tahap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069080"/>
            <a:ext cx="164592" cy="164592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Mengunggah dokumen final per agunan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535424"/>
            <a:ext cx="164592" cy="164592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Mengajukan paket final untuk validasi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001768"/>
            <a:ext cx="164592" cy="164592"/>
          </a:xfrm>
          <a:prstGeom prst="ellipse">
            <a:avLst/>
          </a:prstGeom>
          <a:solidFill>
            <a:srgbClr val="303038"/>
          </a:solidFill>
          <a:ln w="6350">
            <a:solidFill>
              <a:srgbClr val="3030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4965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Mengajukan invoice setelah final valid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789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status sebagai sumber kebenaran.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5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ragu, kembali ke detail order dan lihat tiga hal: tahap saat ini, tindakan yang tersedia, dan alasan jika tahap tertahan.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3232" y="3063240"/>
            <a:ext cx="9875520" cy="0"/>
          </a:xfrm>
          <a:prstGeom prst="line">
            <a:avLst/>
          </a:prstGeom>
          <a:noFill/>
          <a:ln w="12700">
            <a:solidFill>
              <a:srgbClr val="303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493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34930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sedang dikerjakan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4087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40873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boleh dilakukan sekarang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4681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atau catatan yang mengubah 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5870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SIMONTOK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internal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PT BPR BKK Jateng (Perseroda)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Penggunaan SIMONTOK</dc:title>
  <dc:subject>Panduan penggunaan aplikasi SIMONTOK</dc:subject>
  <dc:creator>SIMONTOK</dc:creator>
  <cp:lastModifiedBy>SIMONTOK</cp:lastModifiedBy>
  <cp:revision>1</cp:revision>
  <dcterms:created xsi:type="dcterms:W3CDTF">2026-10-26T11:57:07Z</dcterms:created>
  <dcterms:modified xsi:type="dcterms:W3CDTF">2026-10-26T11:57:07Z</dcterms:modified>
</cp:coreProperties>
</file>