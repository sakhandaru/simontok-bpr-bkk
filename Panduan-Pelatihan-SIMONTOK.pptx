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MONTOK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92240"/>
            <a:ext cx="11155680" cy="0"/>
          </a:xfrm>
          <a:prstGeom prst="line">
            <a:avLst/>
          </a:prstGeom>
          <a:noFill/>
          <a:ln w="10160">
            <a:solidFill>
              <a:srgbClr val="2B2B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47104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SIMONTOK • Panduan penggunaan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749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SIMONTOK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13232" y="1572768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Panduan penggunaan dan perubahan aplikasi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13232" y="2450592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 pelatihan berdasarkan pengembangan workflow, akses pengguna, dokumen, approval, tracking, dan pembayaran.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13232" y="598932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Panduan internal • Versi pengembangan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0" y="960120"/>
            <a:ext cx="3749040" cy="4370832"/>
          </a:xfrm>
          <a:prstGeom prst="roundRect">
            <a:avLst>
              <a:gd name="adj" fmla="val 1951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26096" y="12435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 pelatihan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0" y="1673352"/>
            <a:ext cx="3749040" cy="0"/>
          </a:xfrm>
          <a:prstGeom prst="line">
            <a:avLst/>
          </a:prstGeom>
          <a:noFill/>
          <a:ln w="10160">
            <a:solidFill>
              <a:srgbClr val="3030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6096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C6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96528" y="195681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 dan akun darurat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626096" y="261518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96528" y="26151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dan approval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626096" y="32735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8B7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kerja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96528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 dan audit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26096" y="39319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Operasional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96528" y="39319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dan laporan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• MULAI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Kenali tujuan aplikasi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SIMONTOK membantu pekerjaan berjalan dari order masuk sampai pembayaran tercatat.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938528"/>
            <a:ext cx="3246120" cy="2157984"/>
          </a:xfrm>
          <a:prstGeom prst="roundRect">
            <a:avLst>
              <a:gd name="adj" fmla="val 3390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21762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Legal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77824" y="2633472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Membuat order, memeriksa dokumen, menyetujui covernote, memvalidasi final, dan mencatat pembayaran.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1688" y="1938528"/>
            <a:ext cx="3246120" cy="2157984"/>
          </a:xfrm>
          <a:prstGeom prst="roundRect">
            <a:avLst>
              <a:gd name="adj" fmla="val 3390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81144" y="21762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C6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Notaris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81144" y="2633472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Menerima order, mengunggah covernote, memperbarui progres, melengkapi dokumen final, dan mengajukan invoice.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65008" y="1938528"/>
            <a:ext cx="3246120" cy="2157984"/>
          </a:xfrm>
          <a:prstGeom prst="roundRect">
            <a:avLst>
              <a:gd name="adj" fmla="val 3390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84464" y="21762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8B7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Pimpinan Cabang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284464" y="2633472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Melakukan review atau keputusan yang memang menjadi kewenangannya.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" y="4617720"/>
            <a:ext cx="10515600" cy="658368"/>
          </a:xfrm>
          <a:prstGeom prst="roundRect">
            <a:avLst>
              <a:gd name="adj" fmla="val 11111"/>
            </a:avLst>
          </a:prstGeom>
          <a:solidFill>
            <a:srgbClr val="19191D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727448"/>
            <a:ext cx="10186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Masuk dengan akun sesuai role. Menu dan tombol mengikuti kewenangan pengguna.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• PERUBAHAN SISTEM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Pengembangan aplikasi dari versi sebelumnya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Perubahan utama berada di kontrol proses dan pengelolaan akses, bukan hanya pada tampilan halaman.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515600" cy="4114800"/>
          </a:xfrm>
          <a:prstGeom prst="roundRect">
            <a:avLst>
              <a:gd name="adj" fmla="val 1778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03911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login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697480" y="203911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lokal umum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46520" y="20391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 pegawai dengan akun lokal darurat untuk admin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96112" y="2569464"/>
            <a:ext cx="9966960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78892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Pemberian akses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97480" y="2788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dibuat tanpa pengaitan SSO yang jelas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46520" y="278892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memilih pegawai SSO, role, cabang, dan status aktif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6112" y="3319272"/>
            <a:ext cx="9966960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5387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97480" y="353872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belum dikunci pada satu keputusan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353872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Pimpinan Cabang atau Kadiv Operasional dapat menyetujui, hanya satu yang berhasil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6112" y="4069080"/>
            <a:ext cx="9966960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428853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 kerja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97480" y="428853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tersebar di beberapa bagian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28853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Dokumen, validasi, preview, covernote, dan progres terhubung ke order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818888"/>
            <a:ext cx="9966960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503834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Pembayaran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97480" y="503834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pembayaran kurang tegas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46520" y="50383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diverifikasi, disetujui, lalu bukti bayar dicatat setelah handover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• AKSES PENGGUNA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 untuk pegawai, akun lokal untuk keadaan darurat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memisahkan sumber identitas dari hak akses SIMONTOK.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154680" cy="3474720"/>
          </a:xfrm>
          <a:prstGeom prst="roundRect">
            <a:avLst>
              <a:gd name="adj" fmla="val 2319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03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C6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Pegawai internal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65176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Masuk memakai ID pegawai dan password dari API SSO.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SIMONTOK memeriksa: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95935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ID pegawai sudah diizinkan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30682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role dan cabang sudah diatur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465429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akun masih aktif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51376" y="1828800"/>
            <a:ext cx="3154680" cy="3474720"/>
          </a:xfrm>
          <a:prstGeom prst="roundRect">
            <a:avLst>
              <a:gd name="adj" fmla="val 2319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07408" y="2103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pengelola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407408" y="2651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Menambahkan pegawai SSO melalui ID pegawai, lalu menentukan role, cabang, dan status akses.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07408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tidak mengelola password SSO.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44384" y="1828800"/>
            <a:ext cx="3154680" cy="3474720"/>
          </a:xfrm>
          <a:prstGeom prst="roundRect">
            <a:avLst>
              <a:gd name="adj" fmla="val 2319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0416" y="2103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8B7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Akun darurat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900416" y="2651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akun admin lokal tetap tersedia untuk kondisi SSO tidak dapat digunakan.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900416" y="3886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Akun ini memakai password lokal dan dibatasi untuk keadaan darurat.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8368" y="5596128"/>
            <a:ext cx="10515600" cy="640080"/>
          </a:xfrm>
          <a:prstGeom prst="roundRect">
            <a:avLst>
              <a:gd name="adj" fmla="val 11429"/>
            </a:avLst>
          </a:prstGeom>
          <a:solidFill>
            <a:srgbClr val="19191D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705856"/>
            <a:ext cx="10186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Saat login SSO berhasil tetapi pegawai belum terdaftar di SIMONTOK, sistem menolak akses dan meminta admin mengaktifkan akun terlebih dahulu.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• MANAJEMEN PENGGUNA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menentukan siapa yang boleh masuk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tambah pengguna memisahkan akun Pegawai internal SSO dan Akun lokal.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515600" cy="658368"/>
          </a:xfrm>
          <a:prstGeom prst="roundRect">
            <a:avLst>
              <a:gd name="adj" fmla="val 11111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38528"/>
            <a:ext cx="4983480" cy="384048"/>
          </a:xfrm>
          <a:prstGeom prst="roundRect">
            <a:avLst>
              <a:gd name="adj" fmla="val 38095"/>
            </a:avLst>
          </a:prstGeom>
          <a:solidFill>
            <a:srgbClr val="0B0B0C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29968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Pegawai internal (SSO)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02996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Akun lokal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2743200"/>
            <a:ext cx="5074920" cy="2971800"/>
          </a:xfrm>
          <a:prstGeom prst="roundRect">
            <a:avLst>
              <a:gd name="adj" fmla="val 2462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035808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C6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Pegawai internal (SSO)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35478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Cari atau validasi ID pegawai melalui API SSO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9502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Pastikan nama dan email cocok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43525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Pilih role, cabang, dan bila perlu mitra notaris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9834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dikelola oleh SSO.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99048" y="2743200"/>
            <a:ext cx="5074920" cy="2971800"/>
          </a:xfrm>
          <a:prstGeom prst="roundRect">
            <a:avLst>
              <a:gd name="adj" fmla="val 2462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3035808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Akun lokal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355080" y="35478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Isi nama, username, dan password awal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9502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Pilih role dan cakupan kerja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43525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Gunakan hanya untuk notaris atau admin darurat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55080" y="498348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Akun lokal tidak menjadi jalur bypass SSO pegawai.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• WORKFLOW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menjadi sumber kebenaran proses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tahap membuka tindakan berikutnya dan menutup tindakan yang belum sah.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1993392" cy="1353312"/>
          </a:xfrm>
          <a:prstGeom prst="roundRect">
            <a:avLst>
              <a:gd name="adj" fmla="val 5405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30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25296" y="213055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569464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Legal membuat order dan melengkapi data awal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688336" y="256032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898648" y="3977640"/>
            <a:ext cx="1993392" cy="1353312"/>
          </a:xfrm>
          <a:prstGeom prst="roundRect">
            <a:avLst>
              <a:gd name="adj" fmla="val 5405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4142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65576" y="414223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cabang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63240" y="4581144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Pimpinan Cabang atau Kadiv Operasional menyetujui satu kali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28616" y="45720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138928" y="1965960"/>
            <a:ext cx="1993392" cy="1353312"/>
          </a:xfrm>
          <a:prstGeom prst="roundRect">
            <a:avLst>
              <a:gd name="adj" fmla="val 5405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2130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705856" y="213055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Notaris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03520" y="2569464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Notaris menerima order dan melengkapi covernote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68896" y="256032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79208" y="3977640"/>
            <a:ext cx="1993392" cy="1353312"/>
          </a:xfrm>
          <a:prstGeom prst="roundRect">
            <a:avLst>
              <a:gd name="adj" fmla="val 5405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43800" y="4142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946136" y="414223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 final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543800" y="4581144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Notaris mengunggah final, Admin Legal memvalidasi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409176" y="45720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19488" y="1965960"/>
            <a:ext cx="1993392" cy="1353312"/>
          </a:xfrm>
          <a:prstGeom prst="roundRect">
            <a:avLst>
              <a:gd name="adj" fmla="val 5405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84080" y="2130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186416" y="213055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Pembayaran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784080" y="2569464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disetujui, handover dicatat, bukti bayar diunggah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58368" y="5779008"/>
            <a:ext cx="10515600" cy="548640"/>
          </a:xfrm>
          <a:prstGeom prst="roundRect">
            <a:avLst>
              <a:gd name="adj" fmla="val 13333"/>
            </a:avLst>
          </a:prstGeom>
          <a:solidFill>
            <a:srgbClr val="19191D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888736"/>
            <a:ext cx="10186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Validasi server memastikan status tidak dapat dilompati hanya dengan mengubah tampilan atau mengirim ulang request.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• APPROVAL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role tersedia, satu keputusan tercatat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Pimpinan Cabang dan Kadiv Operasional memiliki kewenangan setara untuk approval cabang, dengan jejak aktor yang jelas.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2971800" cy="3017520"/>
          </a:xfrm>
          <a:prstGeom prst="roundRect">
            <a:avLst>
              <a:gd name="adj" fmla="val 2462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8B7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Pimpinan Cabang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7614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 review dan menyetujui order pada cabangnya.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Jika berhasil, nama dan role tercatat di riwayat.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69080" y="1828800"/>
            <a:ext cx="2971800" cy="3017520"/>
          </a:xfrm>
          <a:prstGeom prst="roundRect">
            <a:avLst>
              <a:gd name="adj" fmla="val 2462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25112" y="2148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C6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Kadiv Operasional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325112" y="2761488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 mengambil keputusan ketika Pimpinan Cabang tidak memproses order.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25112" y="3840480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Kewenangan sama, aktor tetap dibedakan.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79792" y="1828800"/>
            <a:ext cx="3694176" cy="3017520"/>
          </a:xfrm>
          <a:prstGeom prst="roundRect">
            <a:avLst>
              <a:gd name="adj" fmla="val 2424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35824" y="2148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satu approval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735824" y="276148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mengunci order di dalam transaksi database.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35824" y="36118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Approver pertama mengubah status. Request kedua menerima pesan bahwa order sudah diproses.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• DOKUMEN DAN BUKTI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 digital mengikuti agunan dan tahap kerja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menyatukan checklist, file, preview, covernote, progres, dan bukti pembayaran di dalam konteks order.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515600" cy="4133088"/>
          </a:xfrm>
          <a:prstGeom prst="roundRect">
            <a:avLst>
              <a:gd name="adj" fmla="val 1770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 awal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20848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Dilihat Admin Legal sebelum order dikirim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2560320"/>
            <a:ext cx="9966960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80720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Covernote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28072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Diunggah Notaris, lalu menunggu approval Admin Legal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282696"/>
            <a:ext cx="9966960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52958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71800" y="352958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Berjalan berurutan dan langkah terakhir wajib membawa dokumen final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4005072"/>
            <a:ext cx="9966960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25196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Validasi final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71800" y="42519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Otomatis mengajukan paket ketika seluruh agunan lengkap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4400" y="4727448"/>
            <a:ext cx="9966960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9743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pembayaran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971800" y="497433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Dicatat setelah handover dokumen fisik dan invoice disetujui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8368" y="6144768"/>
            <a:ext cx="10515600" cy="420624"/>
          </a:xfrm>
          <a:prstGeom prst="roundRect">
            <a:avLst>
              <a:gd name="adj" fmla="val 17391"/>
            </a:avLst>
          </a:prstGeom>
          <a:solidFill>
            <a:srgbClr val="19191D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254496"/>
            <a:ext cx="10186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Informasi risiko covernote dihitung dari data yang tersimpan. Pengguna tidak perlu menekan refresh risiko secara manual.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• DASHBOARD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Mulai dari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Gunakan ringkasan untuk menentukan pekerjaan yang perlu dikerjakan lebih dulu.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993392" cy="6858000"/>
          </a:xfrm>
          <a:prstGeom prst="rect">
            <a:avLst/>
          </a:prstGeom>
          <a:solidFill>
            <a:srgbClr val="151517"/>
          </a:solidFill>
          <a:ln w="12700">
            <a:solidFill>
              <a:srgbClr val="15151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" y="32004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SIMONTOK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1168" y="102412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OPERASIONAL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46304" y="1261872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B21B"/>
          </a:solidFill>
          <a:ln w="10160">
            <a:solidFill>
              <a:srgbClr val="F5B2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298448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5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691640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084832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478024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Cabang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871216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264408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Pekerjaan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657600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Notaris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4050792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" y="4443984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4837176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62819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Pengaturan Akun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59152" y="502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359152" y="89611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terkini order, dokumen, covernote, dan pembayaran yang perlu ditindaklanjuti.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59152" y="1389888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0B0B0C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05456" y="15179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aktif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05456" y="1773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2505456" y="212140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vs 7 hari lalu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99432" y="1389888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0B0B0C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45736" y="15179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Perlu perhatian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45736" y="1773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6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4745736" y="212140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SLA terlambat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839712" y="1389888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0B0B0C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86016" y="15179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selesai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986016" y="1773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8B7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300" dirty="0"/>
          </a:p>
        </p:txBody>
      </p:sp>
      <p:sp>
        <p:nvSpPr>
          <p:cNvPr id="33" name="Text 31"/>
          <p:cNvSpPr/>
          <p:nvPr/>
        </p:nvSpPr>
        <p:spPr>
          <a:xfrm>
            <a:off x="6986016" y="212140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vs 7 hari lalu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9079992" y="1389888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0B0B0C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26296" y="15179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 final tervalidasi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226296" y="1773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13%</a:t>
            </a:r>
            <a:endParaRPr lang="en-US" sz="2300" dirty="0"/>
          </a:p>
        </p:txBody>
      </p:sp>
      <p:sp>
        <p:nvSpPr>
          <p:cNvPr id="37" name="Text 35"/>
          <p:cNvSpPr/>
          <p:nvPr/>
        </p:nvSpPr>
        <p:spPr>
          <a:xfrm>
            <a:off x="9226296" y="212140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vs 7 hari lalu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359152" y="2633472"/>
            <a:ext cx="5989320" cy="2852928"/>
          </a:xfrm>
          <a:prstGeom prst="roundRect">
            <a:avLst>
              <a:gd name="adj" fmla="val 2564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78608" y="2862072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Antrian tindakan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2578608" y="316382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Pekerjaan prioritas hari ini, paling mendesak di urutan atas.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359152" y="3511296"/>
            <a:ext cx="5989320" cy="0"/>
          </a:xfrm>
          <a:prstGeom prst="line">
            <a:avLst/>
          </a:prstGeom>
          <a:noFill/>
          <a:ln w="10160">
            <a:solidFill>
              <a:srgbClr val="30303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37947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6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terlambat (31)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903720" y="37947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Lihat semua →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578608" y="4096512"/>
            <a:ext cx="5440680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297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Covernote kedaluwarsa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903720" y="429768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Lihat semua →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578608" y="4599432"/>
            <a:ext cx="5440680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6040" y="480060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 belum tercatat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903720" y="48006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Lihat semua →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578608" y="5102352"/>
            <a:ext cx="5440680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77072" y="2633472"/>
            <a:ext cx="2999232" cy="2852928"/>
          </a:xfrm>
          <a:prstGeom prst="roundRect">
            <a:avLst>
              <a:gd name="adj" fmla="val 2564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796528" y="2862072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 harian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96528" y="316382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angka yang dicek setiap hari.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96528" y="37947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6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terlambat 31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96528" y="41788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mendekati batas 9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796528" y="456285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Covernote kedaluwarsa 4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796528" y="49469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 tertunda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• ORDER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Cari dan saring pekerjaan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order adalah tempat utama untuk menemukan konteks, tahap, risiko, dan status pembayaran.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993392" cy="6858000"/>
          </a:xfrm>
          <a:prstGeom prst="rect">
            <a:avLst/>
          </a:prstGeom>
          <a:solidFill>
            <a:srgbClr val="151517"/>
          </a:solidFill>
          <a:ln w="12700">
            <a:solidFill>
              <a:srgbClr val="15151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" y="32004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SIMONTOK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1168" y="102412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OPERASIONAL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11480" y="1298448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6304" y="1655064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B21B"/>
          </a:solidFill>
          <a:ln w="10160">
            <a:solidFill>
              <a:srgbClr val="F5B2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691640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5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084832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478024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Cabang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871216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264408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Pekerjaan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657600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Notaris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4050792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" y="4443984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4837176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62819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Pengaturan Akun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59152" y="502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359152" y="89611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pekerjaan notaris dengan posisi, risiko, SLA, dan pembayaran.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149840" y="65836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111114"/>
          </a:solidFill>
          <a:ln w="10160">
            <a:solidFill>
              <a:srgbClr val="F5F5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59568" y="676656"/>
            <a:ext cx="923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Buat order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359152" y="1335024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0B0B0C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05456" y="146304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order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05456" y="17190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2300" dirty="0"/>
          </a:p>
        </p:txBody>
      </p:sp>
      <p:sp>
        <p:nvSpPr>
          <p:cNvPr id="27" name="Shape 25"/>
          <p:cNvSpPr/>
          <p:nvPr/>
        </p:nvSpPr>
        <p:spPr>
          <a:xfrm>
            <a:off x="4599432" y="1335024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0B0B0C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45736" y="146304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Aktif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45736" y="17190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2300" dirty="0"/>
          </a:p>
        </p:txBody>
      </p:sp>
      <p:sp>
        <p:nvSpPr>
          <p:cNvPr id="30" name="Shape 28"/>
          <p:cNvSpPr/>
          <p:nvPr/>
        </p:nvSpPr>
        <p:spPr>
          <a:xfrm>
            <a:off x="6839712" y="1335024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0B0B0C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86016" y="146304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986016" y="17190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6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  <p:sp>
        <p:nvSpPr>
          <p:cNvPr id="33" name="Shape 31"/>
          <p:cNvSpPr/>
          <p:nvPr/>
        </p:nvSpPr>
        <p:spPr>
          <a:xfrm>
            <a:off x="9079992" y="1335024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0B0B0C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26296" y="146304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Antrian invoice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226296" y="17190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300" dirty="0"/>
          </a:p>
        </p:txBody>
      </p:sp>
      <p:sp>
        <p:nvSpPr>
          <p:cNvPr id="36" name="Shape 34"/>
          <p:cNvSpPr/>
          <p:nvPr/>
        </p:nvSpPr>
        <p:spPr>
          <a:xfrm>
            <a:off x="2359152" y="2578608"/>
            <a:ext cx="9217152" cy="658368"/>
          </a:xfrm>
          <a:prstGeom prst="roundRect">
            <a:avLst>
              <a:gd name="adj" fmla="val 11111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278892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Cari no order, nasabah, atau rekening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852160" y="2752344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11114"/>
          </a:solidFill>
          <a:ln w="10160">
            <a:solidFill>
              <a:srgbClr val="2C6B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61888" y="2770632"/>
            <a:ext cx="8321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6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aktif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59168" y="2752344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111114"/>
          </a:solidFill>
          <a:ln w="10160">
            <a:solidFill>
              <a:srgbClr val="FF6F6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68896" y="2770632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 aktif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11312" y="275234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11114"/>
          </a:solidFill>
          <a:ln w="10160">
            <a:solidFill>
              <a:srgbClr val="F0B42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21040" y="2770632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 tertunda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085832" y="27889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Terapkan filter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359152" y="3493008"/>
            <a:ext cx="9217152" cy="3520440"/>
          </a:xfrm>
          <a:prstGeom prst="roundRect">
            <a:avLst>
              <a:gd name="adj" fmla="val 2078"/>
            </a:avLst>
          </a:prstGeom>
          <a:solidFill>
            <a:srgbClr val="0B0B0C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3744" y="36576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No. order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959352" y="36576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Nasabah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879592" y="365760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434072" y="365760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496312" y="3931920"/>
            <a:ext cx="8942832" cy="0"/>
          </a:xfrm>
          <a:prstGeom prst="line">
            <a:avLst/>
          </a:prstGeom>
          <a:noFill/>
          <a:ln w="10160">
            <a:solidFill>
              <a:srgbClr val="30303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23744" y="405993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DEMO-0001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59352" y="405993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Budi Santoso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879592" y="40599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 valid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370064" y="4050792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11114"/>
          </a:solidFill>
          <a:ln w="10160">
            <a:solidFill>
              <a:srgbClr val="2C6B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79792" y="40690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6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Aktif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2496312" y="4407408"/>
            <a:ext cx="8942832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23744" y="46177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DEMO-0002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3959352" y="461772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Siti Aminah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879592" y="46177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 akta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7370064" y="460857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11114"/>
          </a:solidFill>
          <a:ln w="10160">
            <a:solidFill>
              <a:srgbClr val="2C6B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479792" y="462686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6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Aktif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96312" y="4965192"/>
            <a:ext cx="8942832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23744" y="51755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DEMO-0003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959352" y="517550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 Waryanto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879592" y="5175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Menunggu validasi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7370064" y="5166360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11114"/>
          </a:solidFill>
          <a:ln w="10160">
            <a:solidFill>
              <a:srgbClr val="FF6F6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79792" y="518464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496312" y="5522976"/>
            <a:ext cx="8942832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523744" y="573328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DEMO-0004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959352" y="573328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Dewi Lestari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879592" y="5733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 final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370064" y="5724144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11114"/>
          </a:solidFill>
          <a:ln w="10160">
            <a:solidFill>
              <a:srgbClr val="2C6B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479792" y="574243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6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Aktif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2496312" y="6080760"/>
            <a:ext cx="8942832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523744" y="629107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DEMO-0005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3959352" y="62910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Sri Wahyuni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879592" y="62910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Selesai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7370064" y="6281928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11114"/>
          </a:solidFill>
          <a:ln w="10160">
            <a:solidFill>
              <a:srgbClr val="18B77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479792" y="630021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B7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Selesai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496312" y="6638544"/>
            <a:ext cx="8942832" cy="0"/>
          </a:xfrm>
          <a:prstGeom prst="line">
            <a:avLst/>
          </a:prstGeom>
          <a:noFill/>
          <a:ln w="7620">
            <a:solidFill>
              <a:srgbClr val="30303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359152" y="5724144"/>
            <a:ext cx="9217152" cy="502920"/>
          </a:xfrm>
          <a:prstGeom prst="roundRect">
            <a:avLst>
              <a:gd name="adj" fmla="val 14545"/>
            </a:avLst>
          </a:prstGeom>
          <a:solidFill>
            <a:srgbClr val="19191D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523744" y="5833872"/>
            <a:ext cx="8887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Tips: mulai dari filter Risiko aktif atau SLA terlampaui saat menentukan prioritas kerja.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• DETAIL ORDER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Baca status dan tindakan berikutnya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detail menyatukan identitas order, journey, dokumen, covernote, handover, dan pembayaran.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993392" cy="6858000"/>
          </a:xfrm>
          <a:prstGeom prst="rect">
            <a:avLst/>
          </a:prstGeom>
          <a:solidFill>
            <a:srgbClr val="151517"/>
          </a:solidFill>
          <a:ln w="12700">
            <a:solidFill>
              <a:srgbClr val="15151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" y="32004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SIMONTOK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1168" y="102412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OPERASIONAL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11480" y="1298448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6304" y="1655064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B21B"/>
          </a:solidFill>
          <a:ln w="10160">
            <a:solidFill>
              <a:srgbClr val="F5B2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691640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5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084832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478024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Cabang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871216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264408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Pekerjaan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657600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Notaris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4050792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" y="4443984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4837176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62819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Pengaturan Akun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59152" y="502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DEMO-0017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4425696" y="530352"/>
            <a:ext cx="1060704" cy="292608"/>
          </a:xfrm>
          <a:prstGeom prst="roundRect">
            <a:avLst>
              <a:gd name="adj" fmla="val 50000"/>
            </a:avLst>
          </a:prstGeom>
          <a:solidFill>
            <a:srgbClr val="111114"/>
          </a:solidFill>
          <a:ln w="10160">
            <a:solidFill>
              <a:srgbClr val="2C6B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35424" y="54864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6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 akta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359152" y="89611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Slamet Riyadi • 001135000016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104120" y="658368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111114"/>
          </a:solidFill>
          <a:ln w="10160">
            <a:solidFill>
              <a:srgbClr val="F5F5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13848" y="676656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Tutup order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359152" y="1353312"/>
            <a:ext cx="9217152" cy="1115568"/>
          </a:xfrm>
          <a:prstGeom prst="roundRect">
            <a:avLst>
              <a:gd name="adj" fmla="val 6557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96896" y="157276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pengajuan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788920" y="1938528"/>
            <a:ext cx="201168" cy="201168"/>
          </a:xfrm>
          <a:prstGeom prst="ellipse">
            <a:avLst/>
          </a:prstGeom>
          <a:solidFill>
            <a:srgbClr val="18B778"/>
          </a:solidFill>
          <a:ln w="6350">
            <a:solidFill>
              <a:srgbClr val="18B7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0088" y="2029968"/>
            <a:ext cx="1115568" cy="0"/>
          </a:xfrm>
          <a:prstGeom prst="line">
            <a:avLst/>
          </a:prstGeom>
          <a:noFill/>
          <a:ln w="15240">
            <a:solidFill>
              <a:srgbClr val="18B77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21945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114800" y="1938528"/>
            <a:ext cx="201168" cy="201168"/>
          </a:xfrm>
          <a:prstGeom prst="ellipse">
            <a:avLst/>
          </a:prstGeom>
          <a:solidFill>
            <a:srgbClr val="18B778"/>
          </a:solidFill>
          <a:ln w="6350">
            <a:solidFill>
              <a:srgbClr val="18B77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15968" y="2029968"/>
            <a:ext cx="1115568" cy="0"/>
          </a:xfrm>
          <a:prstGeom prst="line">
            <a:avLst/>
          </a:prstGeom>
          <a:noFill/>
          <a:ln w="15240">
            <a:solidFill>
              <a:srgbClr val="18B77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931920" y="21945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Notaris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938528"/>
            <a:ext cx="201168" cy="201168"/>
          </a:xfrm>
          <a:prstGeom prst="ellipse">
            <a:avLst/>
          </a:prstGeom>
          <a:solidFill>
            <a:srgbClr val="18B778"/>
          </a:solidFill>
          <a:ln w="6350">
            <a:solidFill>
              <a:srgbClr val="18B77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41848" y="2029968"/>
            <a:ext cx="1115568" cy="0"/>
          </a:xfrm>
          <a:prstGeom prst="line">
            <a:avLst/>
          </a:prstGeom>
          <a:noFill/>
          <a:ln w="15240">
            <a:solidFill>
              <a:srgbClr val="30303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57800" y="21945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Covernote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766560" y="1938528"/>
            <a:ext cx="201168" cy="201168"/>
          </a:xfrm>
          <a:prstGeom prst="ellipse">
            <a:avLst/>
          </a:prstGeom>
          <a:solidFill>
            <a:srgbClr val="2C6BE0"/>
          </a:solidFill>
          <a:ln w="6350">
            <a:solidFill>
              <a:srgbClr val="2C6BE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67728" y="2029968"/>
            <a:ext cx="1115568" cy="0"/>
          </a:xfrm>
          <a:prstGeom prst="line">
            <a:avLst/>
          </a:prstGeom>
          <a:noFill/>
          <a:ln w="15240">
            <a:solidFill>
              <a:srgbClr val="30303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21945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092440" y="1938528"/>
            <a:ext cx="201168" cy="201168"/>
          </a:xfrm>
          <a:prstGeom prst="ellipse">
            <a:avLst/>
          </a:prstGeom>
          <a:solidFill>
            <a:srgbClr val="303038"/>
          </a:solidFill>
          <a:ln w="6350">
            <a:solidFill>
              <a:srgbClr val="30303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93608" y="2029968"/>
            <a:ext cx="1115568" cy="0"/>
          </a:xfrm>
          <a:prstGeom prst="line">
            <a:avLst/>
          </a:prstGeom>
          <a:noFill/>
          <a:ln w="15240">
            <a:solidFill>
              <a:srgbClr val="30303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09560" y="21945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9418320" y="1938528"/>
            <a:ext cx="201168" cy="201168"/>
          </a:xfrm>
          <a:prstGeom prst="ellipse">
            <a:avLst/>
          </a:prstGeom>
          <a:solidFill>
            <a:srgbClr val="303038"/>
          </a:solidFill>
          <a:ln w="6350">
            <a:solidFill>
              <a:srgbClr val="30303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35440" y="21945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Bayar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359152" y="2724912"/>
            <a:ext cx="5669280" cy="2834640"/>
          </a:xfrm>
          <a:prstGeom prst="roundRect">
            <a:avLst>
              <a:gd name="adj" fmla="val 2581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96896" y="29535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 &amp; agunan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2724912" y="345643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APHT • AG-DEMO-0017-1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724912" y="389534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Sertifikat rumah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724912" y="433425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diunggah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724912" y="477316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Covernote CN/DEMO-0017/1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21040" y="2724912"/>
            <a:ext cx="3255264" cy="2834640"/>
          </a:xfrm>
          <a:prstGeom prst="roundRect">
            <a:avLst>
              <a:gd name="adj" fmla="val 2581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577072" y="29535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Aksi yang tersedia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577072" y="3456432"/>
            <a:ext cx="2514600" cy="347472"/>
          </a:xfrm>
          <a:prstGeom prst="roundRect">
            <a:avLst>
              <a:gd name="adj" fmla="val 21053"/>
            </a:avLst>
          </a:prstGeom>
          <a:solidFill>
            <a:srgbClr val="F5F5F7"/>
          </a:solidFill>
          <a:ln w="10160">
            <a:solidFill>
              <a:srgbClr val="F5F5F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732520" y="3529584"/>
            <a:ext cx="2176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71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dokumen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577072" y="3968496"/>
            <a:ext cx="2514600" cy="347472"/>
          </a:xfrm>
          <a:prstGeom prst="roundRect">
            <a:avLst>
              <a:gd name="adj" fmla="val 21053"/>
            </a:avLst>
          </a:prstGeom>
          <a:solidFill>
            <a:srgbClr val="1E1E23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732520" y="4041648"/>
            <a:ext cx="2176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 handover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577072" y="4480560"/>
            <a:ext cx="2514600" cy="347472"/>
          </a:xfrm>
          <a:prstGeom prst="roundRect">
            <a:avLst>
              <a:gd name="adj" fmla="val 21053"/>
            </a:avLst>
          </a:prstGeom>
          <a:solidFill>
            <a:srgbClr val="1E1E23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732520" y="4553712"/>
            <a:ext cx="2176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Verifikasi invoice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• ALUR KERJA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Ikuti urutan tahap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Tombol yang muncul mengikuti role dan kesiapan tahap pada order.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1993392" cy="1463040"/>
          </a:xfrm>
          <a:prstGeom prst="roundRect">
            <a:avLst>
              <a:gd name="adj" fmla="val 5000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039112"/>
            <a:ext cx="329184" cy="329184"/>
          </a:xfrm>
          <a:prstGeom prst="ellipse">
            <a:avLst/>
          </a:prstGeom>
          <a:solidFill>
            <a:srgbClr val="F5B21B"/>
          </a:solidFill>
          <a:ln w="6350">
            <a:solidFill>
              <a:srgbClr val="F5B2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204825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dibuat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Legal mengisi data order dan agunan.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2514600"/>
            <a:ext cx="164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898648" y="4050792"/>
            <a:ext cx="1993392" cy="1463040"/>
          </a:xfrm>
          <a:prstGeom prst="roundRect">
            <a:avLst>
              <a:gd name="adj" fmla="val 5000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63240" y="4215384"/>
            <a:ext cx="329184" cy="329184"/>
          </a:xfrm>
          <a:prstGeom prst="ellipse">
            <a:avLst/>
          </a:prstGeom>
          <a:solidFill>
            <a:srgbClr val="F5B21B"/>
          </a:solidFill>
          <a:ln w="6350">
            <a:solidFill>
              <a:srgbClr val="F5B2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63240" y="42793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20440" y="42245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dikirim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63240" y="4690872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diajukan untuk approval dan dikirim ke Notaris.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4690872"/>
            <a:ext cx="164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138928" y="1874520"/>
            <a:ext cx="1993392" cy="1463040"/>
          </a:xfrm>
          <a:prstGeom prst="roundRect">
            <a:avLst>
              <a:gd name="adj" fmla="val 5000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0" y="2039112"/>
            <a:ext cx="329184" cy="329184"/>
          </a:xfrm>
          <a:prstGeom prst="ellipse">
            <a:avLst/>
          </a:prstGeom>
          <a:solidFill>
            <a:srgbClr val="F5B21B"/>
          </a:solidFill>
          <a:ln w="6350">
            <a:solidFill>
              <a:srgbClr val="F5B21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2103120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204825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Covernote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03520" y="251460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Notaris mengunggah; Admin Legal menyetujui atau meminta perbaikan.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78040" y="2514600"/>
            <a:ext cx="164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379208" y="4050792"/>
            <a:ext cx="1993392" cy="1463040"/>
          </a:xfrm>
          <a:prstGeom prst="roundRect">
            <a:avLst>
              <a:gd name="adj" fmla="val 5000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43800" y="4215384"/>
            <a:ext cx="329184" cy="329184"/>
          </a:xfrm>
          <a:prstGeom prst="ellipse">
            <a:avLst/>
          </a:prstGeom>
          <a:solidFill>
            <a:srgbClr val="F5B21B"/>
          </a:solidFill>
          <a:ln w="6350">
            <a:solidFill>
              <a:srgbClr val="F5B2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3800" y="42793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01000" y="42245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 &amp; final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43800" y="4690872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 diselesaikan berurutan; dokumen final wajib lengkap.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418320" y="4690872"/>
            <a:ext cx="164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9619488" y="1874520"/>
            <a:ext cx="1993392" cy="1463040"/>
          </a:xfrm>
          <a:prstGeom prst="roundRect">
            <a:avLst>
              <a:gd name="adj" fmla="val 5000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84080" y="2039112"/>
            <a:ext cx="329184" cy="329184"/>
          </a:xfrm>
          <a:prstGeom prst="ellipse">
            <a:avLst/>
          </a:prstGeom>
          <a:solidFill>
            <a:srgbClr val="18B778"/>
          </a:solidFill>
          <a:ln w="6350">
            <a:solidFill>
              <a:srgbClr val="18B77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84080" y="2103120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241280" y="204825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&amp; bayar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784080" y="251460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diverifikasi, disetujui, lalu bukti pembayaran dicatat.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368" y="5797296"/>
            <a:ext cx="10515600" cy="566928"/>
          </a:xfrm>
          <a:prstGeom prst="roundRect">
            <a:avLst>
              <a:gd name="adj" fmla="val 12903"/>
            </a:avLst>
          </a:prstGeom>
          <a:solidFill>
            <a:srgbClr val="19191D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907024"/>
            <a:ext cx="10186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Aturan kunci: upload dokumen final membuka validasi Admin Legal; bukti bayar baru dicatat setelah handover fisik.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• CHECKLIST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menyelesaikan pekerjaan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Gunakan checklist ini untuk menjaga data, bukti, dan status tetap sinkron.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5074920" cy="4069080"/>
          </a:xfrm>
          <a:prstGeom prst="roundRect">
            <a:avLst>
              <a:gd name="adj" fmla="val 1798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057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Legal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50976" y="2670048"/>
            <a:ext cx="164592" cy="164592"/>
          </a:xfrm>
          <a:prstGeom prst="ellipse">
            <a:avLst/>
          </a:prstGeom>
          <a:solidFill>
            <a:srgbClr val="18B778"/>
          </a:solidFill>
          <a:ln w="6350">
            <a:solidFill>
              <a:srgbClr val="18B7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61872" y="26334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order dan agunan sudah lengkap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50976" y="3136392"/>
            <a:ext cx="164592" cy="164592"/>
          </a:xfrm>
          <a:prstGeom prst="ellipse">
            <a:avLst/>
          </a:prstGeom>
          <a:solidFill>
            <a:srgbClr val="18B778"/>
          </a:solidFill>
          <a:ln w="6350">
            <a:solidFill>
              <a:srgbClr val="18B7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61872" y="30998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 awal sudah diperiksa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50976" y="3602736"/>
            <a:ext cx="164592" cy="164592"/>
          </a:xfrm>
          <a:prstGeom prst="ellipse">
            <a:avLst/>
          </a:prstGeom>
          <a:solidFill>
            <a:srgbClr val="18B778"/>
          </a:solidFill>
          <a:ln w="6350">
            <a:solidFill>
              <a:srgbClr val="18B7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61872" y="35661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Covernote sudah disetujui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50976" y="4069080"/>
            <a:ext cx="164592" cy="164592"/>
          </a:xfrm>
          <a:prstGeom prst="ellipse">
            <a:avLst/>
          </a:prstGeom>
          <a:solidFill>
            <a:srgbClr val="18B778"/>
          </a:solidFill>
          <a:ln w="6350">
            <a:solidFill>
              <a:srgbClr val="18B7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1872" y="403250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 final sudah divalidasi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50976" y="4535424"/>
            <a:ext cx="164592" cy="164592"/>
          </a:xfrm>
          <a:prstGeom prst="ellipse">
            <a:avLst/>
          </a:prstGeom>
          <a:solidFill>
            <a:srgbClr val="303038"/>
          </a:solidFill>
          <a:ln w="6350">
            <a:solidFill>
              <a:srgbClr val="3030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61872" y="44988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 fisik sudah tercatat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50976" y="5001768"/>
            <a:ext cx="164592" cy="164592"/>
          </a:xfrm>
          <a:prstGeom prst="ellipse">
            <a:avLst/>
          </a:prstGeom>
          <a:solidFill>
            <a:srgbClr val="303038"/>
          </a:solidFill>
          <a:ln w="6350">
            <a:solidFill>
              <a:srgbClr val="3030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61872" y="49651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Pembayaran sudah diverifikasi dan dibayar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16752" y="1783080"/>
            <a:ext cx="5074920" cy="4069080"/>
          </a:xfrm>
          <a:prstGeom prst="roundRect">
            <a:avLst>
              <a:gd name="adj" fmla="val 1798"/>
            </a:avLst>
          </a:prstGeom>
          <a:solidFill>
            <a:srgbClr val="151518"/>
          </a:solidFill>
          <a:ln w="10160">
            <a:solidFill>
              <a:srgbClr val="3030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91072" y="2057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C6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Notaris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670048"/>
            <a:ext cx="164592" cy="164592"/>
          </a:xfrm>
          <a:prstGeom prst="ellipse">
            <a:avLst/>
          </a:prstGeom>
          <a:solidFill>
            <a:srgbClr val="18B778"/>
          </a:solidFill>
          <a:ln w="6350">
            <a:solidFill>
              <a:srgbClr val="18B7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6334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Menerima atau menolak order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09360" y="3136392"/>
            <a:ext cx="164592" cy="164592"/>
          </a:xfrm>
          <a:prstGeom prst="ellipse">
            <a:avLst/>
          </a:prstGeom>
          <a:solidFill>
            <a:srgbClr val="18B778"/>
          </a:solidFill>
          <a:ln w="6350">
            <a:solidFill>
              <a:srgbClr val="18B7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0256" y="30998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Mengunggah covernote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09360" y="3602736"/>
            <a:ext cx="164592" cy="164592"/>
          </a:xfrm>
          <a:prstGeom prst="ellipse">
            <a:avLst/>
          </a:prstGeom>
          <a:solidFill>
            <a:srgbClr val="18B778"/>
          </a:solidFill>
          <a:ln w="6350">
            <a:solidFill>
              <a:srgbClr val="18B77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0256" y="35661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Mengisi progres sesuai tahap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4069080"/>
            <a:ext cx="164592" cy="164592"/>
          </a:xfrm>
          <a:prstGeom prst="ellipse">
            <a:avLst/>
          </a:prstGeom>
          <a:solidFill>
            <a:srgbClr val="303038"/>
          </a:solidFill>
          <a:ln w="6350">
            <a:solidFill>
              <a:srgbClr val="30303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03250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Mengunggah dokumen final per agunan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4535424"/>
            <a:ext cx="164592" cy="164592"/>
          </a:xfrm>
          <a:prstGeom prst="ellipse">
            <a:avLst/>
          </a:prstGeom>
          <a:solidFill>
            <a:srgbClr val="303038"/>
          </a:solidFill>
          <a:ln w="6350">
            <a:solidFill>
              <a:srgbClr val="30303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0256" y="44988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Mengajukan paket final untuk validasi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09360" y="5001768"/>
            <a:ext cx="164592" cy="164592"/>
          </a:xfrm>
          <a:prstGeom prst="ellipse">
            <a:avLst/>
          </a:prstGeom>
          <a:solidFill>
            <a:srgbClr val="303038"/>
          </a:solidFill>
          <a:ln w="6350">
            <a:solidFill>
              <a:srgbClr val="3030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0256" y="49651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Mengajukan invoice setelah final valid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10789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Gunakan status sebagai sumber kebenaran.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13232" y="1920240"/>
            <a:ext cx="7589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A5A5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Saat ragu, kembali ke detail order dan lihat tiga hal: tahap saat ini, tindakan yang tersedia, dan alasan jika tahap tertahan.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13232" y="3063240"/>
            <a:ext cx="9875520" cy="0"/>
          </a:xfrm>
          <a:prstGeom prst="line">
            <a:avLst/>
          </a:prstGeom>
          <a:noFill/>
          <a:ln w="12700">
            <a:solidFill>
              <a:srgbClr val="3030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349300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48840" y="3493008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yang sedang dikerjakan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408736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48840" y="4087368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yang boleh dilakukan sekarang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" y="46817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48840" y="4681728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 atau catatan yang mengubah status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58704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5B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SIMONTOK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619963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77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Panduan internal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PT BPR BKK Jateng (Perseroda)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Panduan Penggunaan SIMONTOK</dc:title>
  <dc:subject>Panduan penggunaan aplikasi SIMONTOK</dc:subject>
  <dc:creator>SIMONTOK</dc:creator>
  <cp:lastModifiedBy>SIMONTOK</cp:lastModifiedBy>
  <cp:revision>1</cp:revision>
  <dcterms:created xsi:type="dcterms:W3CDTF">2026-10-27T00:51:26Z</dcterms:created>
  <dcterms:modified xsi:type="dcterms:W3CDTF">2026-10-27T00:51:26Z</dcterms:modified>
</cp:coreProperties>
</file>